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387" r:id="rId3"/>
    <p:sldId id="463" r:id="rId4"/>
    <p:sldId id="464" r:id="rId5"/>
    <p:sldId id="465" r:id="rId6"/>
    <p:sldId id="466" r:id="rId7"/>
    <p:sldId id="467" r:id="rId8"/>
    <p:sldId id="469" r:id="rId9"/>
    <p:sldId id="462" r:id="rId10"/>
    <p:sldId id="455" r:id="rId11"/>
    <p:sldId id="468" r:id="rId12"/>
    <p:sldId id="456" r:id="rId13"/>
    <p:sldId id="457" r:id="rId14"/>
    <p:sldId id="273" r:id="rId15"/>
  </p:sldIdLst>
  <p:sldSz cx="12192000" cy="6858000"/>
  <p:notesSz cx="6858000" cy="9144000"/>
  <p:embeddedFontLst>
    <p:embeddedFont>
      <p:font typeface="Roboto Slab" pitchFamily="2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595959"/>
    <a:srgbClr val="F5F5F5"/>
    <a:srgbClr val="000000"/>
    <a:srgbClr val="990099"/>
    <a:srgbClr val="CC3399"/>
    <a:srgbClr val="532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979" autoAdjust="0"/>
    <p:restoredTop sz="96318" autoAdjust="0"/>
  </p:normalViewPr>
  <p:slideViewPr>
    <p:cSldViewPr snapToGrid="0">
      <p:cViewPr varScale="1">
        <p:scale>
          <a:sx n="75" d="100"/>
          <a:sy n="75" d="100"/>
        </p:scale>
        <p:origin x="1133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4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702EEF-D436-4399-A6B3-AEFE5249DCD8}" type="doc">
      <dgm:prSet loTypeId="urn:microsoft.com/office/officeart/2016/7/layout/VerticalSolidActionList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64284B4-A553-46BA-9092-4CDCE44029F4}">
      <dgm:prSet/>
      <dgm:spPr/>
      <dgm:t>
        <a:bodyPr/>
        <a:lstStyle/>
        <a:p>
          <a:r>
            <a:rPr lang="en-US"/>
            <a:t>Develop</a:t>
          </a:r>
        </a:p>
      </dgm:t>
    </dgm:pt>
    <dgm:pt modelId="{8F828955-B1B1-40B4-80B1-23B845B3F27A}" type="parTrans" cxnId="{AB453070-575C-4248-A898-6C9F8D00A64E}">
      <dgm:prSet/>
      <dgm:spPr/>
      <dgm:t>
        <a:bodyPr/>
        <a:lstStyle/>
        <a:p>
          <a:endParaRPr lang="en-US"/>
        </a:p>
      </dgm:t>
    </dgm:pt>
    <dgm:pt modelId="{17D49AA1-7F00-4AE3-96CE-7566F88F46EA}" type="sibTrans" cxnId="{AB453070-575C-4248-A898-6C9F8D00A64E}">
      <dgm:prSet/>
      <dgm:spPr/>
      <dgm:t>
        <a:bodyPr/>
        <a:lstStyle/>
        <a:p>
          <a:endParaRPr lang="en-US"/>
        </a:p>
      </dgm:t>
    </dgm:pt>
    <dgm:pt modelId="{F32E93C6-7C4F-45E9-BC8C-2C97A26FE8FE}">
      <dgm:prSet/>
      <dgm:spPr/>
      <dgm:t>
        <a:bodyPr/>
        <a:lstStyle/>
        <a:p>
          <a:r>
            <a:rPr lang="en-US"/>
            <a:t>Develop a mobile application for real-time seat lookup and session notifications.</a:t>
          </a:r>
        </a:p>
      </dgm:t>
    </dgm:pt>
    <dgm:pt modelId="{507F3899-EDD0-4320-9105-66E239E962B4}" type="parTrans" cxnId="{A28AB03A-3605-488F-A4DA-6329FFA69307}">
      <dgm:prSet/>
      <dgm:spPr/>
      <dgm:t>
        <a:bodyPr/>
        <a:lstStyle/>
        <a:p>
          <a:endParaRPr lang="en-US"/>
        </a:p>
      </dgm:t>
    </dgm:pt>
    <dgm:pt modelId="{2265CC62-0574-4C42-B129-5A5779738E4B}" type="sibTrans" cxnId="{A28AB03A-3605-488F-A4DA-6329FFA69307}">
      <dgm:prSet/>
      <dgm:spPr/>
      <dgm:t>
        <a:bodyPr/>
        <a:lstStyle/>
        <a:p>
          <a:endParaRPr lang="en-US"/>
        </a:p>
      </dgm:t>
    </dgm:pt>
    <dgm:pt modelId="{4CE3192D-D302-4A7C-812E-A89285F841FA}">
      <dgm:prSet/>
      <dgm:spPr/>
      <dgm:t>
        <a:bodyPr/>
        <a:lstStyle/>
        <a:p>
          <a:r>
            <a:rPr lang="en-US"/>
            <a:t>Implement</a:t>
          </a:r>
        </a:p>
      </dgm:t>
    </dgm:pt>
    <dgm:pt modelId="{D8097FEF-CA79-4D48-BC68-E2D334097739}" type="parTrans" cxnId="{A3B3400E-4106-4C10-93A4-2841B1B83450}">
      <dgm:prSet/>
      <dgm:spPr/>
      <dgm:t>
        <a:bodyPr/>
        <a:lstStyle/>
        <a:p>
          <a:endParaRPr lang="en-US"/>
        </a:p>
      </dgm:t>
    </dgm:pt>
    <dgm:pt modelId="{01597BA6-B7A8-4D0E-938A-5A8F0F6ED582}" type="sibTrans" cxnId="{A3B3400E-4106-4C10-93A4-2841B1B83450}">
      <dgm:prSet/>
      <dgm:spPr/>
      <dgm:t>
        <a:bodyPr/>
        <a:lstStyle/>
        <a:p>
          <a:endParaRPr lang="en-US"/>
        </a:p>
      </dgm:t>
    </dgm:pt>
    <dgm:pt modelId="{B6BDA172-59EE-4BC3-BC0F-75E8A79152B7}">
      <dgm:prSet/>
      <dgm:spPr/>
      <dgm:t>
        <a:bodyPr/>
        <a:lstStyle/>
        <a:p>
          <a:r>
            <a:rPr lang="en-US"/>
            <a:t>Implement an AI-driven layout optimizer for advanced classroom resource planning.</a:t>
          </a:r>
        </a:p>
      </dgm:t>
    </dgm:pt>
    <dgm:pt modelId="{D7C5C3D4-C6FF-4447-B587-9C0A8BE7AEB9}" type="parTrans" cxnId="{54E90D42-7E65-4991-A2C4-E2784DBB58A7}">
      <dgm:prSet/>
      <dgm:spPr/>
      <dgm:t>
        <a:bodyPr/>
        <a:lstStyle/>
        <a:p>
          <a:endParaRPr lang="en-US"/>
        </a:p>
      </dgm:t>
    </dgm:pt>
    <dgm:pt modelId="{D5B81B8B-D9FE-4ECE-84FD-73335F62CCA1}" type="sibTrans" cxnId="{54E90D42-7E65-4991-A2C4-E2784DBB58A7}">
      <dgm:prSet/>
      <dgm:spPr/>
      <dgm:t>
        <a:bodyPr/>
        <a:lstStyle/>
        <a:p>
          <a:endParaRPr lang="en-US"/>
        </a:p>
      </dgm:t>
    </dgm:pt>
    <dgm:pt modelId="{1668A14F-4576-4A25-B4C0-58E57B8E4DE3}">
      <dgm:prSet/>
      <dgm:spPr/>
      <dgm:t>
        <a:bodyPr/>
        <a:lstStyle/>
        <a:p>
          <a:r>
            <a:rPr lang="en-US"/>
            <a:t>Expand</a:t>
          </a:r>
        </a:p>
      </dgm:t>
    </dgm:pt>
    <dgm:pt modelId="{DC92D652-16A0-43EC-8C6E-5046D240F736}" type="parTrans" cxnId="{9E53D3D5-B0AA-44B3-8235-52BC594B1663}">
      <dgm:prSet/>
      <dgm:spPr/>
      <dgm:t>
        <a:bodyPr/>
        <a:lstStyle/>
        <a:p>
          <a:endParaRPr lang="en-US"/>
        </a:p>
      </dgm:t>
    </dgm:pt>
    <dgm:pt modelId="{C4BB514B-C460-4116-8C9F-DC02404DCFDB}" type="sibTrans" cxnId="{9E53D3D5-B0AA-44B3-8235-52BC594B1663}">
      <dgm:prSet/>
      <dgm:spPr/>
      <dgm:t>
        <a:bodyPr/>
        <a:lstStyle/>
        <a:p>
          <a:endParaRPr lang="en-US"/>
        </a:p>
      </dgm:t>
    </dgm:pt>
    <dgm:pt modelId="{D9A164FA-A6D3-45AF-B536-EB390853DA29}">
      <dgm:prSet/>
      <dgm:spPr/>
      <dgm:t>
        <a:bodyPr/>
        <a:lstStyle/>
        <a:p>
          <a:r>
            <a:rPr lang="en-US"/>
            <a:t>Expand system support to include automated examination hall ticket generation.</a:t>
          </a:r>
        </a:p>
      </dgm:t>
    </dgm:pt>
    <dgm:pt modelId="{0BBC0CA1-6E22-48F5-87B6-E6A39F110A5C}" type="parTrans" cxnId="{8F4CD5E3-81C1-4FCF-A101-229A022AA2A2}">
      <dgm:prSet/>
      <dgm:spPr/>
      <dgm:t>
        <a:bodyPr/>
        <a:lstStyle/>
        <a:p>
          <a:endParaRPr lang="en-US"/>
        </a:p>
      </dgm:t>
    </dgm:pt>
    <dgm:pt modelId="{E7EECAE0-162C-4AD5-BB9B-CC7380AC0E32}" type="sibTrans" cxnId="{8F4CD5E3-81C1-4FCF-A101-229A022AA2A2}">
      <dgm:prSet/>
      <dgm:spPr/>
      <dgm:t>
        <a:bodyPr/>
        <a:lstStyle/>
        <a:p>
          <a:endParaRPr lang="en-US"/>
        </a:p>
      </dgm:t>
    </dgm:pt>
    <dgm:pt modelId="{3636DCE2-0D41-433C-BA03-5E9808BAFCAB}">
      <dgm:prSet/>
      <dgm:spPr/>
      <dgm:t>
        <a:bodyPr/>
        <a:lstStyle/>
        <a:p>
          <a:r>
            <a:rPr lang="en-US"/>
            <a:t>Support</a:t>
          </a:r>
        </a:p>
      </dgm:t>
    </dgm:pt>
    <dgm:pt modelId="{F1B490CD-C09C-4F58-8288-635AEF9122D2}" type="parTrans" cxnId="{4745F2CB-8287-4E1C-9595-63425A72EA96}">
      <dgm:prSet/>
      <dgm:spPr/>
      <dgm:t>
        <a:bodyPr/>
        <a:lstStyle/>
        <a:p>
          <a:endParaRPr lang="en-US"/>
        </a:p>
      </dgm:t>
    </dgm:pt>
    <dgm:pt modelId="{7654D09C-0C0D-4D09-B639-45E57F493BB0}" type="sibTrans" cxnId="{4745F2CB-8287-4E1C-9595-63425A72EA96}">
      <dgm:prSet/>
      <dgm:spPr/>
      <dgm:t>
        <a:bodyPr/>
        <a:lstStyle/>
        <a:p>
          <a:endParaRPr lang="en-US"/>
        </a:p>
      </dgm:t>
    </dgm:pt>
    <dgm:pt modelId="{062A29ED-E466-479B-BC51-7D8E6CE6749B}">
      <dgm:prSet/>
      <dgm:spPr/>
      <dgm:t>
        <a:bodyPr/>
        <a:lstStyle/>
        <a:p>
          <a:r>
            <a:rPr lang="en-US"/>
            <a:t>Support for cross-departmental scheduling sync with institutional ERP systems.</a:t>
          </a:r>
        </a:p>
      </dgm:t>
    </dgm:pt>
    <dgm:pt modelId="{2E662A08-E141-4058-AB52-8631932CBE6F}" type="parTrans" cxnId="{48821543-826E-4093-B370-1CB2BDE16EB5}">
      <dgm:prSet/>
      <dgm:spPr/>
      <dgm:t>
        <a:bodyPr/>
        <a:lstStyle/>
        <a:p>
          <a:endParaRPr lang="en-US"/>
        </a:p>
      </dgm:t>
    </dgm:pt>
    <dgm:pt modelId="{00BAFC58-459B-4356-BB00-56737BB5512E}" type="sibTrans" cxnId="{48821543-826E-4093-B370-1CB2BDE16EB5}">
      <dgm:prSet/>
      <dgm:spPr/>
      <dgm:t>
        <a:bodyPr/>
        <a:lstStyle/>
        <a:p>
          <a:endParaRPr lang="en-US"/>
        </a:p>
      </dgm:t>
    </dgm:pt>
    <dgm:pt modelId="{D44E0A56-32B4-4AA0-AE1D-DA80658E6B07}" type="pres">
      <dgm:prSet presAssocID="{00702EEF-D436-4399-A6B3-AEFE5249DCD8}" presName="Name0" presStyleCnt="0">
        <dgm:presLayoutVars>
          <dgm:dir/>
          <dgm:animLvl val="lvl"/>
          <dgm:resizeHandles val="exact"/>
        </dgm:presLayoutVars>
      </dgm:prSet>
      <dgm:spPr/>
    </dgm:pt>
    <dgm:pt modelId="{25F91B4C-8762-4C39-A230-6574C9A5BEEA}" type="pres">
      <dgm:prSet presAssocID="{164284B4-A553-46BA-9092-4CDCE44029F4}" presName="linNode" presStyleCnt="0"/>
      <dgm:spPr/>
    </dgm:pt>
    <dgm:pt modelId="{2005E3E0-48F9-4F51-A216-97BD2678CC3F}" type="pres">
      <dgm:prSet presAssocID="{164284B4-A553-46BA-9092-4CDCE44029F4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30A446F4-618C-43EA-9101-D2B7F62DF7BE}" type="pres">
      <dgm:prSet presAssocID="{164284B4-A553-46BA-9092-4CDCE44029F4}" presName="descendantText" presStyleLbl="alignAccFollowNode1" presStyleIdx="0" presStyleCnt="4">
        <dgm:presLayoutVars>
          <dgm:bulletEnabled/>
        </dgm:presLayoutVars>
      </dgm:prSet>
      <dgm:spPr/>
    </dgm:pt>
    <dgm:pt modelId="{EE1D1A62-045A-4320-9D28-1BCC117D74CC}" type="pres">
      <dgm:prSet presAssocID="{17D49AA1-7F00-4AE3-96CE-7566F88F46EA}" presName="sp" presStyleCnt="0"/>
      <dgm:spPr/>
    </dgm:pt>
    <dgm:pt modelId="{13768B57-4263-48E5-BC0B-50E0B8432A17}" type="pres">
      <dgm:prSet presAssocID="{4CE3192D-D302-4A7C-812E-A89285F841FA}" presName="linNode" presStyleCnt="0"/>
      <dgm:spPr/>
    </dgm:pt>
    <dgm:pt modelId="{E9ACAF45-F361-4059-A308-A126859D6A3E}" type="pres">
      <dgm:prSet presAssocID="{4CE3192D-D302-4A7C-812E-A89285F841FA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5958517D-93F8-4514-BEA4-615F282E5E01}" type="pres">
      <dgm:prSet presAssocID="{4CE3192D-D302-4A7C-812E-A89285F841FA}" presName="descendantText" presStyleLbl="alignAccFollowNode1" presStyleIdx="1" presStyleCnt="4">
        <dgm:presLayoutVars>
          <dgm:bulletEnabled/>
        </dgm:presLayoutVars>
      </dgm:prSet>
      <dgm:spPr/>
    </dgm:pt>
    <dgm:pt modelId="{720B6C99-9275-448A-8804-D49781CF7F95}" type="pres">
      <dgm:prSet presAssocID="{01597BA6-B7A8-4D0E-938A-5A8F0F6ED582}" presName="sp" presStyleCnt="0"/>
      <dgm:spPr/>
    </dgm:pt>
    <dgm:pt modelId="{5B81ED7D-5C49-4DA1-A66F-E4AA065EAE2A}" type="pres">
      <dgm:prSet presAssocID="{1668A14F-4576-4A25-B4C0-58E57B8E4DE3}" presName="linNode" presStyleCnt="0"/>
      <dgm:spPr/>
    </dgm:pt>
    <dgm:pt modelId="{FF56CEC9-4B6C-4233-8D9B-FEF80EF055AB}" type="pres">
      <dgm:prSet presAssocID="{1668A14F-4576-4A25-B4C0-58E57B8E4DE3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8244D447-CDF2-4E36-9267-42CA0E217946}" type="pres">
      <dgm:prSet presAssocID="{1668A14F-4576-4A25-B4C0-58E57B8E4DE3}" presName="descendantText" presStyleLbl="alignAccFollowNode1" presStyleIdx="2" presStyleCnt="4">
        <dgm:presLayoutVars>
          <dgm:bulletEnabled/>
        </dgm:presLayoutVars>
      </dgm:prSet>
      <dgm:spPr/>
    </dgm:pt>
    <dgm:pt modelId="{08AB5883-BA20-45E6-B35F-487441B96934}" type="pres">
      <dgm:prSet presAssocID="{C4BB514B-C460-4116-8C9F-DC02404DCFDB}" presName="sp" presStyleCnt="0"/>
      <dgm:spPr/>
    </dgm:pt>
    <dgm:pt modelId="{D79C342F-7A25-44F5-8173-DC4375C5F35D}" type="pres">
      <dgm:prSet presAssocID="{3636DCE2-0D41-433C-BA03-5E9808BAFCAB}" presName="linNode" presStyleCnt="0"/>
      <dgm:spPr/>
    </dgm:pt>
    <dgm:pt modelId="{66E745D7-3AAD-4456-8F0B-E13370E73E52}" type="pres">
      <dgm:prSet presAssocID="{3636DCE2-0D41-433C-BA03-5E9808BAFCAB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C49BA2BF-C5D6-4736-939A-73C349EB05BD}" type="pres">
      <dgm:prSet presAssocID="{3636DCE2-0D41-433C-BA03-5E9808BAFCAB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1FA51C0B-1799-4C9A-A6D4-900781A23BC7}" type="presOf" srcId="{164284B4-A553-46BA-9092-4CDCE44029F4}" destId="{2005E3E0-48F9-4F51-A216-97BD2678CC3F}" srcOrd="0" destOrd="0" presId="urn:microsoft.com/office/officeart/2016/7/layout/VerticalSolidActionList"/>
    <dgm:cxn modelId="{A3B3400E-4106-4C10-93A4-2841B1B83450}" srcId="{00702EEF-D436-4399-A6B3-AEFE5249DCD8}" destId="{4CE3192D-D302-4A7C-812E-A89285F841FA}" srcOrd="1" destOrd="0" parTransId="{D8097FEF-CA79-4D48-BC68-E2D334097739}" sibTransId="{01597BA6-B7A8-4D0E-938A-5A8F0F6ED582}"/>
    <dgm:cxn modelId="{A28AB03A-3605-488F-A4DA-6329FFA69307}" srcId="{164284B4-A553-46BA-9092-4CDCE44029F4}" destId="{F32E93C6-7C4F-45E9-BC8C-2C97A26FE8FE}" srcOrd="0" destOrd="0" parTransId="{507F3899-EDD0-4320-9105-66E239E962B4}" sibTransId="{2265CC62-0574-4C42-B129-5A5779738E4B}"/>
    <dgm:cxn modelId="{54E90D42-7E65-4991-A2C4-E2784DBB58A7}" srcId="{4CE3192D-D302-4A7C-812E-A89285F841FA}" destId="{B6BDA172-59EE-4BC3-BC0F-75E8A79152B7}" srcOrd="0" destOrd="0" parTransId="{D7C5C3D4-C6FF-4447-B587-9C0A8BE7AEB9}" sibTransId="{D5B81B8B-D9FE-4ECE-84FD-73335F62CCA1}"/>
    <dgm:cxn modelId="{48821543-826E-4093-B370-1CB2BDE16EB5}" srcId="{3636DCE2-0D41-433C-BA03-5E9808BAFCAB}" destId="{062A29ED-E466-479B-BC51-7D8E6CE6749B}" srcOrd="0" destOrd="0" parTransId="{2E662A08-E141-4058-AB52-8631932CBE6F}" sibTransId="{00BAFC58-459B-4356-BB00-56737BB5512E}"/>
    <dgm:cxn modelId="{AB453070-575C-4248-A898-6C9F8D00A64E}" srcId="{00702EEF-D436-4399-A6B3-AEFE5249DCD8}" destId="{164284B4-A553-46BA-9092-4CDCE44029F4}" srcOrd="0" destOrd="0" parTransId="{8F828955-B1B1-40B4-80B1-23B845B3F27A}" sibTransId="{17D49AA1-7F00-4AE3-96CE-7566F88F46EA}"/>
    <dgm:cxn modelId="{A5C38672-E3E7-4811-987B-6BA1C8787B08}" type="presOf" srcId="{B6BDA172-59EE-4BC3-BC0F-75E8A79152B7}" destId="{5958517D-93F8-4514-BEA4-615F282E5E01}" srcOrd="0" destOrd="0" presId="urn:microsoft.com/office/officeart/2016/7/layout/VerticalSolidActionList"/>
    <dgm:cxn modelId="{07EB1474-F193-45FA-9CF5-0FF990679EC9}" type="presOf" srcId="{3636DCE2-0D41-433C-BA03-5E9808BAFCAB}" destId="{66E745D7-3AAD-4456-8F0B-E13370E73E52}" srcOrd="0" destOrd="0" presId="urn:microsoft.com/office/officeart/2016/7/layout/VerticalSolidActionList"/>
    <dgm:cxn modelId="{2EB65A78-CBB8-4E1A-ACF9-A259F3CFEE37}" type="presOf" srcId="{4CE3192D-D302-4A7C-812E-A89285F841FA}" destId="{E9ACAF45-F361-4059-A308-A126859D6A3E}" srcOrd="0" destOrd="0" presId="urn:microsoft.com/office/officeart/2016/7/layout/VerticalSolidActionList"/>
    <dgm:cxn modelId="{D55F875A-BFAC-472A-8864-0BE0F8158099}" type="presOf" srcId="{D9A164FA-A6D3-45AF-B536-EB390853DA29}" destId="{8244D447-CDF2-4E36-9267-42CA0E217946}" srcOrd="0" destOrd="0" presId="urn:microsoft.com/office/officeart/2016/7/layout/VerticalSolidActionList"/>
    <dgm:cxn modelId="{C89FE096-4077-4523-9FAD-8D113B816A0A}" type="presOf" srcId="{1668A14F-4576-4A25-B4C0-58E57B8E4DE3}" destId="{FF56CEC9-4B6C-4233-8D9B-FEF80EF055AB}" srcOrd="0" destOrd="0" presId="urn:microsoft.com/office/officeart/2016/7/layout/VerticalSolidActionList"/>
    <dgm:cxn modelId="{CD7EF4A9-1C4C-451A-969D-FB433F959E6C}" type="presOf" srcId="{F32E93C6-7C4F-45E9-BC8C-2C97A26FE8FE}" destId="{30A446F4-618C-43EA-9101-D2B7F62DF7BE}" srcOrd="0" destOrd="0" presId="urn:microsoft.com/office/officeart/2016/7/layout/VerticalSolidActionList"/>
    <dgm:cxn modelId="{C64F73BD-CD0B-402C-931E-F12DAEC30272}" type="presOf" srcId="{00702EEF-D436-4399-A6B3-AEFE5249DCD8}" destId="{D44E0A56-32B4-4AA0-AE1D-DA80658E6B07}" srcOrd="0" destOrd="0" presId="urn:microsoft.com/office/officeart/2016/7/layout/VerticalSolidActionList"/>
    <dgm:cxn modelId="{4745F2CB-8287-4E1C-9595-63425A72EA96}" srcId="{00702EEF-D436-4399-A6B3-AEFE5249DCD8}" destId="{3636DCE2-0D41-433C-BA03-5E9808BAFCAB}" srcOrd="3" destOrd="0" parTransId="{F1B490CD-C09C-4F58-8288-635AEF9122D2}" sibTransId="{7654D09C-0C0D-4D09-B639-45E57F493BB0}"/>
    <dgm:cxn modelId="{4E255DCC-B777-4676-9758-1D44795C73F7}" type="presOf" srcId="{062A29ED-E466-479B-BC51-7D8E6CE6749B}" destId="{C49BA2BF-C5D6-4736-939A-73C349EB05BD}" srcOrd="0" destOrd="0" presId="urn:microsoft.com/office/officeart/2016/7/layout/VerticalSolidActionList"/>
    <dgm:cxn modelId="{9E53D3D5-B0AA-44B3-8235-52BC594B1663}" srcId="{00702EEF-D436-4399-A6B3-AEFE5249DCD8}" destId="{1668A14F-4576-4A25-B4C0-58E57B8E4DE3}" srcOrd="2" destOrd="0" parTransId="{DC92D652-16A0-43EC-8C6E-5046D240F736}" sibTransId="{C4BB514B-C460-4116-8C9F-DC02404DCFDB}"/>
    <dgm:cxn modelId="{8F4CD5E3-81C1-4FCF-A101-229A022AA2A2}" srcId="{1668A14F-4576-4A25-B4C0-58E57B8E4DE3}" destId="{D9A164FA-A6D3-45AF-B536-EB390853DA29}" srcOrd="0" destOrd="0" parTransId="{0BBC0CA1-6E22-48F5-87B6-E6A39F110A5C}" sibTransId="{E7EECAE0-162C-4AD5-BB9B-CC7380AC0E32}"/>
    <dgm:cxn modelId="{C34D05D5-C044-48A7-84DD-1DD1D7D95BAD}" type="presParOf" srcId="{D44E0A56-32B4-4AA0-AE1D-DA80658E6B07}" destId="{25F91B4C-8762-4C39-A230-6574C9A5BEEA}" srcOrd="0" destOrd="0" presId="urn:microsoft.com/office/officeart/2016/7/layout/VerticalSolidActionList"/>
    <dgm:cxn modelId="{96F19C30-F315-431D-84FA-C9B1E0B41A5C}" type="presParOf" srcId="{25F91B4C-8762-4C39-A230-6574C9A5BEEA}" destId="{2005E3E0-48F9-4F51-A216-97BD2678CC3F}" srcOrd="0" destOrd="0" presId="urn:microsoft.com/office/officeart/2016/7/layout/VerticalSolidActionList"/>
    <dgm:cxn modelId="{61597269-790E-4478-99E8-580A30DAA057}" type="presParOf" srcId="{25F91B4C-8762-4C39-A230-6574C9A5BEEA}" destId="{30A446F4-618C-43EA-9101-D2B7F62DF7BE}" srcOrd="1" destOrd="0" presId="urn:microsoft.com/office/officeart/2016/7/layout/VerticalSolidActionList"/>
    <dgm:cxn modelId="{74B8241D-10A3-4551-940D-E7347B49E462}" type="presParOf" srcId="{D44E0A56-32B4-4AA0-AE1D-DA80658E6B07}" destId="{EE1D1A62-045A-4320-9D28-1BCC117D74CC}" srcOrd="1" destOrd="0" presId="urn:microsoft.com/office/officeart/2016/7/layout/VerticalSolidActionList"/>
    <dgm:cxn modelId="{8E531A56-2B01-418B-914C-15217D66AA57}" type="presParOf" srcId="{D44E0A56-32B4-4AA0-AE1D-DA80658E6B07}" destId="{13768B57-4263-48E5-BC0B-50E0B8432A17}" srcOrd="2" destOrd="0" presId="urn:microsoft.com/office/officeart/2016/7/layout/VerticalSolidActionList"/>
    <dgm:cxn modelId="{B9DD2644-C092-4A36-BFBD-E5B15F47A630}" type="presParOf" srcId="{13768B57-4263-48E5-BC0B-50E0B8432A17}" destId="{E9ACAF45-F361-4059-A308-A126859D6A3E}" srcOrd="0" destOrd="0" presId="urn:microsoft.com/office/officeart/2016/7/layout/VerticalSolidActionList"/>
    <dgm:cxn modelId="{3F768A59-8783-4C28-B5E0-8F3AE3A18171}" type="presParOf" srcId="{13768B57-4263-48E5-BC0B-50E0B8432A17}" destId="{5958517D-93F8-4514-BEA4-615F282E5E01}" srcOrd="1" destOrd="0" presId="urn:microsoft.com/office/officeart/2016/7/layout/VerticalSolidActionList"/>
    <dgm:cxn modelId="{C9149968-7D92-49D4-830B-E526DCD14D30}" type="presParOf" srcId="{D44E0A56-32B4-4AA0-AE1D-DA80658E6B07}" destId="{720B6C99-9275-448A-8804-D49781CF7F95}" srcOrd="3" destOrd="0" presId="urn:microsoft.com/office/officeart/2016/7/layout/VerticalSolidActionList"/>
    <dgm:cxn modelId="{DA2908E2-EA28-480A-B6DD-1C71172BCB5D}" type="presParOf" srcId="{D44E0A56-32B4-4AA0-AE1D-DA80658E6B07}" destId="{5B81ED7D-5C49-4DA1-A66F-E4AA065EAE2A}" srcOrd="4" destOrd="0" presId="urn:microsoft.com/office/officeart/2016/7/layout/VerticalSolidActionList"/>
    <dgm:cxn modelId="{3765B4E2-4E10-4FAD-BF1A-11C71C7C72B7}" type="presParOf" srcId="{5B81ED7D-5C49-4DA1-A66F-E4AA065EAE2A}" destId="{FF56CEC9-4B6C-4233-8D9B-FEF80EF055AB}" srcOrd="0" destOrd="0" presId="urn:microsoft.com/office/officeart/2016/7/layout/VerticalSolidActionList"/>
    <dgm:cxn modelId="{9D5D00E5-E8F1-4EA5-8F16-3DEFC7CB5CA2}" type="presParOf" srcId="{5B81ED7D-5C49-4DA1-A66F-E4AA065EAE2A}" destId="{8244D447-CDF2-4E36-9267-42CA0E217946}" srcOrd="1" destOrd="0" presId="urn:microsoft.com/office/officeart/2016/7/layout/VerticalSolidActionList"/>
    <dgm:cxn modelId="{C2FD3984-5DCC-4615-978F-9BE29FDD4AC7}" type="presParOf" srcId="{D44E0A56-32B4-4AA0-AE1D-DA80658E6B07}" destId="{08AB5883-BA20-45E6-B35F-487441B96934}" srcOrd="5" destOrd="0" presId="urn:microsoft.com/office/officeart/2016/7/layout/VerticalSolidActionList"/>
    <dgm:cxn modelId="{384AF76C-923E-4519-B874-12C247DDFC60}" type="presParOf" srcId="{D44E0A56-32B4-4AA0-AE1D-DA80658E6B07}" destId="{D79C342F-7A25-44F5-8173-DC4375C5F35D}" srcOrd="6" destOrd="0" presId="urn:microsoft.com/office/officeart/2016/7/layout/VerticalSolidActionList"/>
    <dgm:cxn modelId="{573A2C95-8608-4B35-AA30-118F0631C1B6}" type="presParOf" srcId="{D79C342F-7A25-44F5-8173-DC4375C5F35D}" destId="{66E745D7-3AAD-4456-8F0B-E13370E73E52}" srcOrd="0" destOrd="0" presId="urn:microsoft.com/office/officeart/2016/7/layout/VerticalSolidActionList"/>
    <dgm:cxn modelId="{672AA65E-977D-4F97-BBA4-4BDFB47AC885}" type="presParOf" srcId="{D79C342F-7A25-44F5-8173-DC4375C5F35D}" destId="{C49BA2BF-C5D6-4736-939A-73C349EB05BD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446F4-618C-43EA-9101-D2B7F62DF7BE}">
      <dsp:nvSpPr>
        <dsp:cNvPr id="0" name=""/>
        <dsp:cNvSpPr/>
      </dsp:nvSpPr>
      <dsp:spPr>
        <a:xfrm>
          <a:off x="2103120" y="2007"/>
          <a:ext cx="8412480" cy="10400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Develop a mobile application for real-time seat lookup and session notifications.</a:t>
          </a:r>
        </a:p>
      </dsp:txBody>
      <dsp:txXfrm>
        <a:off x="2103120" y="2007"/>
        <a:ext cx="8412480" cy="1040029"/>
      </dsp:txXfrm>
    </dsp:sp>
    <dsp:sp modelId="{2005E3E0-48F9-4F51-A216-97BD2678CC3F}">
      <dsp:nvSpPr>
        <dsp:cNvPr id="0" name=""/>
        <dsp:cNvSpPr/>
      </dsp:nvSpPr>
      <dsp:spPr>
        <a:xfrm>
          <a:off x="0" y="2007"/>
          <a:ext cx="210312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Develop</a:t>
          </a:r>
        </a:p>
      </dsp:txBody>
      <dsp:txXfrm>
        <a:off x="0" y="2007"/>
        <a:ext cx="2103120" cy="1040029"/>
      </dsp:txXfrm>
    </dsp:sp>
    <dsp:sp modelId="{5958517D-93F8-4514-BEA4-615F282E5E01}">
      <dsp:nvSpPr>
        <dsp:cNvPr id="0" name=""/>
        <dsp:cNvSpPr/>
      </dsp:nvSpPr>
      <dsp:spPr>
        <a:xfrm>
          <a:off x="2103120" y="1104438"/>
          <a:ext cx="8412480" cy="10400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Implement an AI-driven layout optimizer for advanced classroom resource planning.</a:t>
          </a:r>
        </a:p>
      </dsp:txBody>
      <dsp:txXfrm>
        <a:off x="2103120" y="1104438"/>
        <a:ext cx="8412480" cy="1040029"/>
      </dsp:txXfrm>
    </dsp:sp>
    <dsp:sp modelId="{E9ACAF45-F361-4059-A308-A126859D6A3E}">
      <dsp:nvSpPr>
        <dsp:cNvPr id="0" name=""/>
        <dsp:cNvSpPr/>
      </dsp:nvSpPr>
      <dsp:spPr>
        <a:xfrm>
          <a:off x="0" y="1104438"/>
          <a:ext cx="210312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Implement</a:t>
          </a:r>
        </a:p>
      </dsp:txBody>
      <dsp:txXfrm>
        <a:off x="0" y="1104438"/>
        <a:ext cx="2103120" cy="1040029"/>
      </dsp:txXfrm>
    </dsp:sp>
    <dsp:sp modelId="{8244D447-CDF2-4E36-9267-42CA0E217946}">
      <dsp:nvSpPr>
        <dsp:cNvPr id="0" name=""/>
        <dsp:cNvSpPr/>
      </dsp:nvSpPr>
      <dsp:spPr>
        <a:xfrm>
          <a:off x="2103120" y="2206869"/>
          <a:ext cx="8412480" cy="10400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Expand system support to include automated examination hall ticket generation.</a:t>
          </a:r>
        </a:p>
      </dsp:txBody>
      <dsp:txXfrm>
        <a:off x="2103120" y="2206869"/>
        <a:ext cx="8412480" cy="1040029"/>
      </dsp:txXfrm>
    </dsp:sp>
    <dsp:sp modelId="{FF56CEC9-4B6C-4233-8D9B-FEF80EF055AB}">
      <dsp:nvSpPr>
        <dsp:cNvPr id="0" name=""/>
        <dsp:cNvSpPr/>
      </dsp:nvSpPr>
      <dsp:spPr>
        <a:xfrm>
          <a:off x="0" y="2206869"/>
          <a:ext cx="210312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Expand</a:t>
          </a:r>
        </a:p>
      </dsp:txBody>
      <dsp:txXfrm>
        <a:off x="0" y="2206869"/>
        <a:ext cx="2103120" cy="1040029"/>
      </dsp:txXfrm>
    </dsp:sp>
    <dsp:sp modelId="{C49BA2BF-C5D6-4736-939A-73C349EB05BD}">
      <dsp:nvSpPr>
        <dsp:cNvPr id="0" name=""/>
        <dsp:cNvSpPr/>
      </dsp:nvSpPr>
      <dsp:spPr>
        <a:xfrm>
          <a:off x="2103120" y="3309300"/>
          <a:ext cx="8412480" cy="104002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225" tIns="264167" rIns="163225" bIns="264167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Support for cross-departmental scheduling sync with institutional ERP systems.</a:t>
          </a:r>
        </a:p>
      </dsp:txBody>
      <dsp:txXfrm>
        <a:off x="2103120" y="3309300"/>
        <a:ext cx="8412480" cy="1040029"/>
      </dsp:txXfrm>
    </dsp:sp>
    <dsp:sp modelId="{66E745D7-3AAD-4456-8F0B-E13370E73E52}">
      <dsp:nvSpPr>
        <dsp:cNvPr id="0" name=""/>
        <dsp:cNvSpPr/>
      </dsp:nvSpPr>
      <dsp:spPr>
        <a:xfrm>
          <a:off x="0" y="3309300"/>
          <a:ext cx="2103120" cy="104002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1290" tIns="102732" rIns="111290" bIns="102732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Support</a:t>
          </a:r>
        </a:p>
      </dsp:txBody>
      <dsp:txXfrm>
        <a:off x="0" y="3309300"/>
        <a:ext cx="2103120" cy="1040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04D3E-AB25-4865-88B1-E5CEDFA4F726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8B107A-A654-4768-8807-756F0176A7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341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285437" y="265677"/>
            <a:ext cx="11621126" cy="6326646"/>
            <a:chOff x="254476" y="265679"/>
            <a:chExt cx="11621126" cy="6326646"/>
          </a:xfrm>
        </p:grpSpPr>
        <p:sp>
          <p:nvSpPr>
            <p:cNvPr id="8" name="Flowchart: Manual Input 5"/>
            <p:cNvSpPr/>
            <p:nvPr userDrawn="1"/>
          </p:nvSpPr>
          <p:spPr>
            <a:xfrm rot="16200000" flipV="1">
              <a:off x="799317" y="-279162"/>
              <a:ext cx="6326646" cy="7416327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00" h="10000">
                  <a:moveTo>
                    <a:pt x="0" y="3494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349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Manual Input 5"/>
            <p:cNvSpPr/>
            <p:nvPr userDrawn="1"/>
          </p:nvSpPr>
          <p:spPr>
            <a:xfrm rot="16200000" flipH="1">
              <a:off x="5594106" y="302528"/>
              <a:ext cx="5550769" cy="701222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00"/>
                <a:gd name="connsiteY0" fmla="*/ 3494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3494 h 10000"/>
                <a:gd name="connsiteX0" fmla="*/ 15 w 10015"/>
                <a:gd name="connsiteY0" fmla="*/ 3494 h 10469"/>
                <a:gd name="connsiteX1" fmla="*/ 10015 w 10015"/>
                <a:gd name="connsiteY1" fmla="*/ 0 h 10469"/>
                <a:gd name="connsiteX2" fmla="*/ 10015 w 10015"/>
                <a:gd name="connsiteY2" fmla="*/ 10000 h 10469"/>
                <a:gd name="connsiteX3" fmla="*/ 0 w 10015"/>
                <a:gd name="connsiteY3" fmla="*/ 10469 h 10469"/>
                <a:gd name="connsiteX4" fmla="*/ 15 w 10015"/>
                <a:gd name="connsiteY4" fmla="*/ 3494 h 10469"/>
                <a:gd name="connsiteX0" fmla="*/ 15 w 10015"/>
                <a:gd name="connsiteY0" fmla="*/ 3494 h 10494"/>
                <a:gd name="connsiteX1" fmla="*/ 10015 w 10015"/>
                <a:gd name="connsiteY1" fmla="*/ 0 h 10494"/>
                <a:gd name="connsiteX2" fmla="*/ 9984 w 10015"/>
                <a:gd name="connsiteY2" fmla="*/ 10494 h 10494"/>
                <a:gd name="connsiteX3" fmla="*/ 0 w 10015"/>
                <a:gd name="connsiteY3" fmla="*/ 10469 h 10494"/>
                <a:gd name="connsiteX4" fmla="*/ 15 w 10015"/>
                <a:gd name="connsiteY4" fmla="*/ 3494 h 10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15" h="10494">
                  <a:moveTo>
                    <a:pt x="15" y="3494"/>
                  </a:moveTo>
                  <a:lnTo>
                    <a:pt x="10015" y="0"/>
                  </a:lnTo>
                  <a:cubicBezTo>
                    <a:pt x="10005" y="3498"/>
                    <a:pt x="9994" y="6996"/>
                    <a:pt x="9984" y="10494"/>
                  </a:cubicBezTo>
                  <a:lnTo>
                    <a:pt x="0" y="10469"/>
                  </a:lnTo>
                  <a:lnTo>
                    <a:pt x="15" y="349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1984375"/>
            <a:ext cx="5905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4564063"/>
            <a:ext cx="5905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83" b="37125"/>
          <a:stretch/>
        </p:blipFill>
        <p:spPr>
          <a:xfrm>
            <a:off x="254475" y="3208830"/>
            <a:ext cx="6915786" cy="33751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760542" cy="11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70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639" y="379813"/>
            <a:ext cx="2444161" cy="983068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3090333" y="1049867"/>
            <a:ext cx="86783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254475" y="6502400"/>
            <a:ext cx="11683050" cy="7043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7956645" y="6476902"/>
            <a:ext cx="3980880" cy="4356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200" b="0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</p:spTree>
    <p:extLst>
      <p:ext uri="{BB962C8B-B14F-4D97-AF65-F5344CB8AC3E}">
        <p14:creationId xmlns:p14="http://schemas.microsoft.com/office/powerpoint/2010/main" val="1783210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359785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0262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4476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Rectangle 1"/>
          <p:cNvSpPr/>
          <p:nvPr userDrawn="1"/>
        </p:nvSpPr>
        <p:spPr>
          <a:xfrm>
            <a:off x="254475" y="262783"/>
            <a:ext cx="2686688" cy="633243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noFill/>
              </a:ln>
            </a:endParaRPr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3"/>
          <a:stretch/>
        </p:blipFill>
        <p:spPr>
          <a:xfrm>
            <a:off x="245097" y="1534163"/>
            <a:ext cx="2393627" cy="4768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7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5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294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22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46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32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52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7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9BB6-5787-495D-AC20-623BD90004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721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FBAFD22-97B6-4BF3-9496-41E458151A6B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191579" y="92974"/>
            <a:ext cx="2926334" cy="78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4234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21C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6" name="Rectangle 5"/>
          <p:cNvSpPr/>
          <p:nvPr userDrawn="1"/>
        </p:nvSpPr>
        <p:spPr>
          <a:xfrm>
            <a:off x="123825" y="138112"/>
            <a:ext cx="11944351" cy="6581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03412" y="1049867"/>
            <a:ext cx="1136525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3386667" y="379812"/>
            <a:ext cx="8382000" cy="670055"/>
          </a:xfrm>
        </p:spPr>
        <p:txBody>
          <a:bodyPr>
            <a:normAutofit/>
          </a:bodyPr>
          <a:lstStyle>
            <a:lvl1pPr algn="r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17215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17672-D273-40A8-9069-31B0837D5743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1D3BC5-34EF-44B2-83AC-D5533E46F0A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041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8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84" r:id="rId14"/>
    <p:sldLayoutId id="214748368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918" y="1625473"/>
            <a:ext cx="6175070" cy="1998307"/>
          </a:xfrm>
        </p:spPr>
        <p:txBody>
          <a:bodyPr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Topic: </a:t>
            </a:r>
            <a:r>
              <a:rPr lang="en-GB" sz="2800" b="1" dirty="0">
                <a:solidFill>
                  <a:schemeClr val="accent2"/>
                </a:solidFill>
                <a:cs typeface="Arial" panose="020B0604020202020204" pitchFamily="34" charset="0"/>
              </a:rPr>
              <a:t>Web Based Classroom Seat Allocation System using Django and SQLite3</a:t>
            </a:r>
            <a:endParaRPr lang="en-US" sz="28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4994" y="3752894"/>
            <a:ext cx="5905500" cy="762076"/>
          </a:xfrm>
        </p:spPr>
        <p:txBody>
          <a:bodyPr>
            <a:noAutofit/>
          </a:bodyPr>
          <a:lstStyle/>
          <a:p>
            <a:pPr algn="r"/>
            <a:r>
              <a:rPr lang="en-US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Shashwath K S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MTech in AI FT-Batch 04 </a:t>
            </a:r>
          </a:p>
          <a:p>
            <a:pPr algn="r"/>
            <a:r>
              <a:rPr lang="en-US" sz="2000" b="1" dirty="0">
                <a:solidFill>
                  <a:schemeClr val="bg1"/>
                </a:solidFill>
                <a:latin typeface="+mj-lt"/>
                <a:cs typeface="Arial" panose="020B0604020202020204" pitchFamily="34" charset="0"/>
              </a:rPr>
              <a:t>Project Presentation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5485425" y="6119446"/>
            <a:ext cx="6175069" cy="3526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lnSpc>
                <a:spcPct val="100000"/>
              </a:lnSpc>
            </a:pPr>
            <a:r>
              <a:rPr lang="en-IN" sz="1600" dirty="0">
                <a:solidFill>
                  <a:schemeClr val="bg1"/>
                </a:solidFill>
                <a:ea typeface="Calibri" panose="020F0502020204030204" pitchFamily="34" charset="0"/>
                <a:cs typeface="Arial" panose="020B0604020202020204" pitchFamily="34" charset="0"/>
              </a:rPr>
              <a:t>www.race.reva.edu.in</a:t>
            </a:r>
          </a:p>
        </p:txBody>
      </p:sp>
      <p:sp>
        <p:nvSpPr>
          <p:cNvPr id="8" name="Title 2"/>
          <p:cNvSpPr txBox="1">
            <a:spLocks/>
          </p:cNvSpPr>
          <p:nvPr/>
        </p:nvSpPr>
        <p:spPr>
          <a:xfrm>
            <a:off x="6646333" y="271291"/>
            <a:ext cx="5267501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IN" sz="1400" b="1" dirty="0">
                <a:solidFill>
                  <a:srgbClr val="595959"/>
                </a:solidFill>
              </a:rPr>
              <a:t>REVA Academy for Corporate Excellence (RACE)</a:t>
            </a:r>
          </a:p>
        </p:txBody>
      </p:sp>
      <p:sp>
        <p:nvSpPr>
          <p:cNvPr id="9" name="Title 2"/>
          <p:cNvSpPr txBox="1">
            <a:spLocks/>
          </p:cNvSpPr>
          <p:nvPr/>
        </p:nvSpPr>
        <p:spPr>
          <a:xfrm>
            <a:off x="458917" y="3426864"/>
            <a:ext cx="4127234" cy="5798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400" dirty="0">
                <a:solidFill>
                  <a:srgbClr val="595959"/>
                </a:solidFill>
              </a:rPr>
              <a:t>Date: 24-03-2026</a:t>
            </a:r>
          </a:p>
        </p:txBody>
      </p:sp>
    </p:spTree>
    <p:extLst>
      <p:ext uri="{BB962C8B-B14F-4D97-AF65-F5344CB8AC3E}">
        <p14:creationId xmlns:p14="http://schemas.microsoft.com/office/powerpoint/2010/main" val="169718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94673" y="1531122"/>
            <a:ext cx="5465788" cy="646331"/>
            <a:chOff x="1848112" y="1575921"/>
            <a:chExt cx="5465788" cy="646331"/>
          </a:xfrm>
        </p:grpSpPr>
        <p:sp>
          <p:nvSpPr>
            <p:cNvPr id="11" name="TextBox 10"/>
            <p:cNvSpPr txBox="1"/>
            <p:nvPr/>
          </p:nvSpPr>
          <p:spPr>
            <a:xfrm>
              <a:off x="2806208" y="1702727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Introduction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01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694673" y="2666100"/>
            <a:ext cx="5465788" cy="646331"/>
            <a:chOff x="1848112" y="1575921"/>
            <a:chExt cx="5465788" cy="64633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806208" y="1699031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Problem Statement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94673" y="3801078"/>
            <a:ext cx="5465788" cy="646331"/>
            <a:chOff x="1848112" y="1575921"/>
            <a:chExt cx="5465788" cy="6463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806208" y="1699031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Objectives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694673" y="4936055"/>
            <a:ext cx="5465788" cy="646331"/>
            <a:chOff x="1848112" y="1575921"/>
            <a:chExt cx="5465788" cy="64633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2806208" y="1697449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IN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ERD and System Design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7F06B10-F2B9-45AE-BAEE-3A25BDC40F60}"/>
              </a:ext>
            </a:extLst>
          </p:cNvPr>
          <p:cNvGrpSpPr/>
          <p:nvPr/>
        </p:nvGrpSpPr>
        <p:grpSpPr>
          <a:xfrm>
            <a:off x="6060189" y="1531122"/>
            <a:ext cx="5437138" cy="646331"/>
            <a:chOff x="1848112" y="1575921"/>
            <a:chExt cx="5437138" cy="646331"/>
          </a:xfrm>
        </p:grpSpPr>
        <p:sp>
          <p:nvSpPr>
            <p:cNvPr id="27" name="TextBox 26"/>
            <p:cNvSpPr txBox="1"/>
            <p:nvPr/>
          </p:nvSpPr>
          <p:spPr>
            <a:xfrm>
              <a:off x="2777558" y="1705386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IN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Technology Stack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05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8C572D2-FF82-4F09-A87C-3D3A60EF1C3D}"/>
              </a:ext>
            </a:extLst>
          </p:cNvPr>
          <p:cNvGrpSpPr/>
          <p:nvPr/>
        </p:nvGrpSpPr>
        <p:grpSpPr>
          <a:xfrm>
            <a:off x="6060189" y="2666100"/>
            <a:ext cx="5465788" cy="646331"/>
            <a:chOff x="1848112" y="1575921"/>
            <a:chExt cx="5465788" cy="646331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FCF8A9D-7E22-4279-8535-9C4F0258D7B9}"/>
                </a:ext>
              </a:extLst>
            </p:cNvPr>
            <p:cNvSpPr txBox="1"/>
            <p:nvPr/>
          </p:nvSpPr>
          <p:spPr>
            <a:xfrm>
              <a:off x="2806208" y="1697994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IN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System Features and Layout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E6D74D0-F347-4E58-A9D8-7E9536FAAEC3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06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C66517ED-D341-498B-BF06-476933A43F6B}"/>
              </a:ext>
            </a:extLst>
          </p:cNvPr>
          <p:cNvGrpSpPr/>
          <p:nvPr/>
        </p:nvGrpSpPr>
        <p:grpSpPr>
          <a:xfrm>
            <a:off x="6060189" y="3801078"/>
            <a:ext cx="5465788" cy="646331"/>
            <a:chOff x="1848112" y="1575921"/>
            <a:chExt cx="5465788" cy="646331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90EC436-1B46-49D9-A7E4-ADECB5E929DF}"/>
                </a:ext>
              </a:extLst>
            </p:cNvPr>
            <p:cNvSpPr txBox="1"/>
            <p:nvPr/>
          </p:nvSpPr>
          <p:spPr>
            <a:xfrm>
              <a:off x="2806208" y="1665008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Future Enhancements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F831A6C-272F-4BDD-8F88-4227AAB90FB2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07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DEE4032-D811-4C99-AE03-98362C887B64}"/>
              </a:ext>
            </a:extLst>
          </p:cNvPr>
          <p:cNvGrpSpPr/>
          <p:nvPr/>
        </p:nvGrpSpPr>
        <p:grpSpPr>
          <a:xfrm>
            <a:off x="6060189" y="4936055"/>
            <a:ext cx="5465788" cy="646331"/>
            <a:chOff x="1848112" y="1575921"/>
            <a:chExt cx="5465788" cy="646331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DFCC804-6C1D-4C67-B274-1978635DA6F9}"/>
                </a:ext>
              </a:extLst>
            </p:cNvPr>
            <p:cNvSpPr txBox="1"/>
            <p:nvPr/>
          </p:nvSpPr>
          <p:spPr>
            <a:xfrm>
              <a:off x="2806208" y="1720555"/>
              <a:ext cx="4507692" cy="400110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r>
                <a:rPr lang="en-US" altLang="ko-KR" sz="2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Conclusion</a:t>
              </a:r>
              <a:endPara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B7AC64B-48B2-4F4F-A626-7901145018C6}"/>
                </a:ext>
              </a:extLst>
            </p:cNvPr>
            <p:cNvSpPr txBox="1"/>
            <p:nvPr/>
          </p:nvSpPr>
          <p:spPr>
            <a:xfrm>
              <a:off x="1848112" y="1575921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lt"/>
                  <a:cs typeface="Arial" pitchFamily="34" charset="0"/>
                </a:rPr>
                <a:t>08</a:t>
              </a:r>
              <a:endParaRPr lang="ko-KR" alt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8360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585" y="1536559"/>
            <a:ext cx="11150082" cy="3784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A web-based management platform for systematic classroom seat allocation using Django-based relational logic and interactive React components.</a:t>
            </a:r>
          </a:p>
          <a:p>
            <a:pPr>
              <a:lnSpc>
                <a:spcPct val="150000"/>
              </a:lnSpc>
            </a:pPr>
            <a:endParaRPr lang="en-GB" dirty="0"/>
          </a:p>
          <a:p>
            <a:pPr>
              <a:lnSpc>
                <a:spcPct val="150000"/>
              </a:lnSpc>
            </a:pPr>
            <a:r>
              <a:rPr lang="en-GB" b="1" dirty="0"/>
              <a:t>Why this System?</a:t>
            </a:r>
            <a:endParaRPr lang="en-GB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Manual seating arrangements are error-prone and tedious.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Difficult to handle overlapping schedules and mentor availability.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Fixed room layouts require dynamic capacity calculations.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Need for a centralized system to ensure data integrity and validation.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Physical charts lack real-time visibility and easy synchronization.</a:t>
            </a:r>
          </a:p>
        </p:txBody>
      </p:sp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60E4E2AB-DC71-0F80-5121-DDA031240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1919" y="3160959"/>
            <a:ext cx="1440321" cy="1440321"/>
          </a:xfrm>
          <a:prstGeom prst="rect">
            <a:avLst/>
          </a:prstGeom>
        </p:spPr>
      </p:pic>
      <p:pic>
        <p:nvPicPr>
          <p:cNvPr id="3" name="Graphic 2" descr="Database with solid fill">
            <a:extLst>
              <a:ext uri="{FF2B5EF4-FFF2-40B4-BE49-F238E27FC236}">
                <a16:creationId xmlns:a16="http://schemas.microsoft.com/office/drawing/2014/main" id="{767C3A03-4263-F771-3788-A7A52BBA3E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36481" y="3727520"/>
            <a:ext cx="1747520" cy="174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785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Problem Statement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4008" y="1521720"/>
            <a:ext cx="11457992" cy="4200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Problem Statement: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Manual allocation results in frequent scheduling and room conflicts.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Difficulty in managing diverse layouts (Regular, Lab, Conference).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Lack of direct validation for mentor availability and room capacity.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Fragmented data storage leading to inconsistency and reporting errors.</a:t>
            </a:r>
          </a:p>
          <a:p>
            <a:pPr>
              <a:lnSpc>
                <a:spcPct val="150000"/>
              </a:lnSpc>
            </a:pPr>
            <a:r>
              <a:rPr lang="en-GB" b="1" dirty="0"/>
              <a:t>Proposed Solution: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Centralized Django-SQLite platform for structured institutional data.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Real-time validation engine to prevent double-booking of resources.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Interactive React dashboards for visual seating and batch management.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Digital-first workflow to ensure data integrity and scheduling accuracy.</a:t>
            </a:r>
          </a:p>
        </p:txBody>
      </p:sp>
    </p:spTree>
    <p:extLst>
      <p:ext uri="{BB962C8B-B14F-4D97-AF65-F5344CB8AC3E}">
        <p14:creationId xmlns:p14="http://schemas.microsoft.com/office/powerpoint/2010/main" val="295993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Objectives</a:t>
            </a:r>
          </a:p>
        </p:txBody>
      </p:sp>
      <p:sp>
        <p:nvSpPr>
          <p:cNvPr id="118" name="Parallelogram 30">
            <a:extLst>
              <a:ext uri="{FF2B5EF4-FFF2-40B4-BE49-F238E27FC236}">
                <a16:creationId xmlns:a16="http://schemas.microsoft.com/office/drawing/2014/main" id="{B42520F8-7309-4EC7-A3BA-B52127B270B6}"/>
              </a:ext>
            </a:extLst>
          </p:cNvPr>
          <p:cNvSpPr/>
          <p:nvPr/>
        </p:nvSpPr>
        <p:spPr>
          <a:xfrm flipH="1">
            <a:off x="7489325" y="3110504"/>
            <a:ext cx="351685" cy="352555"/>
          </a:xfrm>
          <a:custGeom>
            <a:avLst/>
            <a:gdLst/>
            <a:ahLst/>
            <a:cxnLst/>
            <a:rect l="l" t="t" r="r" b="b"/>
            <a:pathLst>
              <a:path w="3240000" h="3248012">
                <a:moveTo>
                  <a:pt x="712553" y="858820"/>
                </a:moveTo>
                <a:cubicBezTo>
                  <a:pt x="727950" y="858820"/>
                  <a:pt x="743348" y="864694"/>
                  <a:pt x="755096" y="876443"/>
                </a:cubicBezTo>
                <a:lnTo>
                  <a:pt x="1193671" y="1315016"/>
                </a:lnTo>
                <a:lnTo>
                  <a:pt x="1509169" y="999517"/>
                </a:lnTo>
                <a:cubicBezTo>
                  <a:pt x="1509517" y="999169"/>
                  <a:pt x="1509868" y="998827"/>
                  <a:pt x="1510414" y="998691"/>
                </a:cubicBezTo>
                <a:lnTo>
                  <a:pt x="1518932" y="988592"/>
                </a:lnTo>
                <a:cubicBezTo>
                  <a:pt x="1531945" y="978263"/>
                  <a:pt x="1547912" y="974188"/>
                  <a:pt x="1563209" y="975946"/>
                </a:cubicBezTo>
                <a:cubicBezTo>
                  <a:pt x="1578505" y="977705"/>
                  <a:pt x="1593131" y="985299"/>
                  <a:pt x="1603459" y="998313"/>
                </a:cubicBezTo>
                <a:lnTo>
                  <a:pt x="1892346" y="1362277"/>
                </a:lnTo>
                <a:lnTo>
                  <a:pt x="2149759" y="1177067"/>
                </a:lnTo>
                <a:lnTo>
                  <a:pt x="2151621" y="1174867"/>
                </a:lnTo>
                <a:cubicBezTo>
                  <a:pt x="2159033" y="1169006"/>
                  <a:pt x="2167397" y="1165168"/>
                  <a:pt x="2176160" y="1163802"/>
                </a:cubicBezTo>
                <a:cubicBezTo>
                  <a:pt x="2177188" y="1163485"/>
                  <a:pt x="2178237" y="1163269"/>
                  <a:pt x="2179375" y="1163558"/>
                </a:cubicBezTo>
                <a:cubicBezTo>
                  <a:pt x="2184768" y="1161771"/>
                  <a:pt x="2190389" y="1161654"/>
                  <a:pt x="2195921" y="1162300"/>
                </a:cubicBezTo>
                <a:cubicBezTo>
                  <a:pt x="2196662" y="1162386"/>
                  <a:pt x="2197402" y="1162487"/>
                  <a:pt x="2198081" y="1162987"/>
                </a:cubicBezTo>
                <a:cubicBezTo>
                  <a:pt x="2202197" y="1163290"/>
                  <a:pt x="2206218" y="1164270"/>
                  <a:pt x="2209739" y="1166702"/>
                </a:cubicBezTo>
                <a:cubicBezTo>
                  <a:pt x="2213116" y="1166857"/>
                  <a:pt x="2216051" y="1168231"/>
                  <a:pt x="2218766" y="1170038"/>
                </a:cubicBezTo>
                <a:cubicBezTo>
                  <a:pt x="2225342" y="1173160"/>
                  <a:pt x="2231151" y="1177875"/>
                  <a:pt x="2235489" y="1184194"/>
                </a:cubicBezTo>
                <a:lnTo>
                  <a:pt x="2236132" y="1184737"/>
                </a:lnTo>
                <a:lnTo>
                  <a:pt x="2236287" y="1184934"/>
                </a:lnTo>
                <a:lnTo>
                  <a:pt x="2238712" y="1187183"/>
                </a:lnTo>
                <a:cubicBezTo>
                  <a:pt x="2239115" y="1187744"/>
                  <a:pt x="2239507" y="1188310"/>
                  <a:pt x="2239574" y="1189090"/>
                </a:cubicBezTo>
                <a:lnTo>
                  <a:pt x="2540580" y="1569705"/>
                </a:lnTo>
                <a:cubicBezTo>
                  <a:pt x="2561191" y="1595768"/>
                  <a:pt x="2556772" y="1633604"/>
                  <a:pt x="2530710" y="1654215"/>
                </a:cubicBezTo>
                <a:cubicBezTo>
                  <a:pt x="2504647" y="1674827"/>
                  <a:pt x="2466811" y="1670408"/>
                  <a:pt x="2446199" y="1644345"/>
                </a:cubicBezTo>
                <a:lnTo>
                  <a:pt x="2177884" y="1305067"/>
                </a:lnTo>
                <a:lnTo>
                  <a:pt x="1934804" y="1479967"/>
                </a:lnTo>
                <a:cubicBezTo>
                  <a:pt x="1927367" y="1485317"/>
                  <a:pt x="1919123" y="1488726"/>
                  <a:pt x="1910598" y="1489881"/>
                </a:cubicBezTo>
                <a:cubicBezTo>
                  <a:pt x="1885257" y="1507791"/>
                  <a:pt x="1850121" y="1502627"/>
                  <a:pt x="1830495" y="1477903"/>
                </a:cubicBezTo>
                <a:lnTo>
                  <a:pt x="1551924" y="1126933"/>
                </a:lnTo>
                <a:lnTo>
                  <a:pt x="1239041" y="1439816"/>
                </a:lnTo>
                <a:cubicBezTo>
                  <a:pt x="1226569" y="1452288"/>
                  <a:pt x="1209983" y="1458139"/>
                  <a:pt x="1193674" y="1456888"/>
                </a:cubicBezTo>
                <a:cubicBezTo>
                  <a:pt x="1177363" y="1458142"/>
                  <a:pt x="1160774" y="1452290"/>
                  <a:pt x="1148301" y="1439816"/>
                </a:cubicBezTo>
                <a:lnTo>
                  <a:pt x="670011" y="961527"/>
                </a:lnTo>
                <a:cubicBezTo>
                  <a:pt x="646515" y="938031"/>
                  <a:pt x="646515" y="899938"/>
                  <a:pt x="670011" y="876442"/>
                </a:cubicBezTo>
                <a:cubicBezTo>
                  <a:pt x="681760" y="864694"/>
                  <a:pt x="697157" y="858820"/>
                  <a:pt x="712553" y="858820"/>
                </a:cubicBezTo>
                <a:close/>
                <a:moveTo>
                  <a:pt x="2790000" y="699581"/>
                </a:moveTo>
                <a:lnTo>
                  <a:pt x="450000" y="699581"/>
                </a:lnTo>
                <a:lnTo>
                  <a:pt x="450000" y="1851581"/>
                </a:lnTo>
                <a:lnTo>
                  <a:pt x="2790000" y="1851581"/>
                </a:lnTo>
                <a:close/>
                <a:moveTo>
                  <a:pt x="2987972" y="519497"/>
                </a:moveTo>
                <a:lnTo>
                  <a:pt x="2987972" y="2031665"/>
                </a:lnTo>
                <a:lnTo>
                  <a:pt x="252028" y="2031665"/>
                </a:lnTo>
                <a:lnTo>
                  <a:pt x="252028" y="519497"/>
                </a:lnTo>
                <a:close/>
                <a:moveTo>
                  <a:pt x="1620000" y="0"/>
                </a:moveTo>
                <a:cubicBezTo>
                  <a:pt x="1540462" y="0"/>
                  <a:pt x="1475984" y="64478"/>
                  <a:pt x="1475984" y="144016"/>
                </a:cubicBezTo>
                <a:lnTo>
                  <a:pt x="1475984" y="267469"/>
                </a:lnTo>
                <a:lnTo>
                  <a:pt x="0" y="267469"/>
                </a:lnTo>
                <a:lnTo>
                  <a:pt x="0" y="2283693"/>
                </a:lnTo>
                <a:lnTo>
                  <a:pt x="852101" y="2283693"/>
                </a:lnTo>
                <a:lnTo>
                  <a:pt x="323771" y="3248012"/>
                </a:lnTo>
                <a:lnTo>
                  <a:pt x="621526" y="3248012"/>
                </a:lnTo>
                <a:lnTo>
                  <a:pt x="1149856" y="2283693"/>
                </a:lnTo>
                <a:lnTo>
                  <a:pt x="2090146" y="2283693"/>
                </a:lnTo>
                <a:lnTo>
                  <a:pt x="2618476" y="3248012"/>
                </a:lnTo>
                <a:lnTo>
                  <a:pt x="2916231" y="3248012"/>
                </a:lnTo>
                <a:lnTo>
                  <a:pt x="2387901" y="2283693"/>
                </a:lnTo>
                <a:lnTo>
                  <a:pt x="3240000" y="2283693"/>
                </a:lnTo>
                <a:lnTo>
                  <a:pt x="3240000" y="267469"/>
                </a:lnTo>
                <a:lnTo>
                  <a:pt x="1764016" y="267469"/>
                </a:lnTo>
                <a:lnTo>
                  <a:pt x="1764016" y="144016"/>
                </a:lnTo>
                <a:cubicBezTo>
                  <a:pt x="1764016" y="64478"/>
                  <a:pt x="1699538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19" name="Rectangle 16">
            <a:extLst>
              <a:ext uri="{FF2B5EF4-FFF2-40B4-BE49-F238E27FC236}">
                <a16:creationId xmlns:a16="http://schemas.microsoft.com/office/drawing/2014/main" id="{31B88AF4-8B22-4BF9-81B4-A152E80FF8D8}"/>
              </a:ext>
            </a:extLst>
          </p:cNvPr>
          <p:cNvSpPr/>
          <p:nvPr/>
        </p:nvSpPr>
        <p:spPr>
          <a:xfrm rot="2700000">
            <a:off x="5267944" y="3963197"/>
            <a:ext cx="265920" cy="476745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20" name="Oval 7">
            <a:extLst>
              <a:ext uri="{FF2B5EF4-FFF2-40B4-BE49-F238E27FC236}">
                <a16:creationId xmlns:a16="http://schemas.microsoft.com/office/drawing/2014/main" id="{5CE0F81E-E007-4921-A103-3E9F7209C010}"/>
              </a:ext>
            </a:extLst>
          </p:cNvPr>
          <p:cNvSpPr/>
          <p:nvPr/>
        </p:nvSpPr>
        <p:spPr>
          <a:xfrm>
            <a:off x="6638692" y="4046945"/>
            <a:ext cx="361277" cy="361277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130" y="1827162"/>
            <a:ext cx="10547739" cy="32717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To design a relational database system for managing students, batches, classrooms, mentors, and session schedules using structured DBMS concepts.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To enforce database-level constraints to prevent conflicts such as multiple classroom assignments, mentor overlap, duplicate batch scheduling, and capacity overflow.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GB" sz="2000" dirty="0"/>
              <a:t>To ensure accurate session management by validating allocations based on student count, classroom capacity, mentor availability, date, and time-slot rules.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65503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System Architecture Design</a:t>
            </a:r>
            <a:endParaRPr lang="en-IN" dirty="0"/>
          </a:p>
        </p:txBody>
      </p:sp>
      <p:sp>
        <p:nvSpPr>
          <p:cNvPr id="19" name="TextBox 18"/>
          <p:cNvSpPr txBox="1"/>
          <p:nvPr/>
        </p:nvSpPr>
        <p:spPr>
          <a:xfrm>
            <a:off x="503853" y="1623527"/>
            <a:ext cx="1115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6DF25E-0D5A-50FD-6D26-2C697BD64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9" b="11011"/>
          <a:stretch>
            <a:fillRect/>
          </a:stretch>
        </p:blipFill>
        <p:spPr>
          <a:xfrm>
            <a:off x="1168400" y="1483360"/>
            <a:ext cx="9855200" cy="473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00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788F9-6A97-5826-2468-BBBC599A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8CEA3-BE43-0B52-C33C-8F8831C0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DB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BF63E-F75C-51AA-826D-2A6EBF03B80D}"/>
              </a:ext>
            </a:extLst>
          </p:cNvPr>
          <p:cNvSpPr txBox="1"/>
          <p:nvPr/>
        </p:nvSpPr>
        <p:spPr>
          <a:xfrm>
            <a:off x="503853" y="1623527"/>
            <a:ext cx="1115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2AC671-9C7B-8557-DD67-317430EFEC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086" b="-3686"/>
          <a:stretch>
            <a:fillRect/>
          </a:stretch>
        </p:blipFill>
        <p:spPr>
          <a:xfrm>
            <a:off x="1484468" y="1209040"/>
            <a:ext cx="9315611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4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D23A66E-FBB5-FDB2-BB3D-1137C50C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D3D5E-4D88-F8B8-8502-79386D5B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DB Structure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76B98B-7A6C-5D83-F458-7A70026C12B2}"/>
              </a:ext>
            </a:extLst>
          </p:cNvPr>
          <p:cNvSpPr txBox="1"/>
          <p:nvPr/>
        </p:nvSpPr>
        <p:spPr>
          <a:xfrm>
            <a:off x="503853" y="1623527"/>
            <a:ext cx="1115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61DFDF-7BFA-1728-FB9E-5BD766E532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3" b="6790"/>
          <a:stretch>
            <a:fillRect/>
          </a:stretch>
        </p:blipFill>
        <p:spPr>
          <a:xfrm>
            <a:off x="1320800" y="1463040"/>
            <a:ext cx="8890000" cy="4866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234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Technology Stack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34226"/>
              </p:ext>
            </p:extLst>
          </p:nvPr>
        </p:nvGraphicFramePr>
        <p:xfrm>
          <a:off x="2101627" y="1587694"/>
          <a:ext cx="8268058" cy="432623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34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40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465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Technology stack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Backend Framework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Django</a:t>
                      </a:r>
                      <a:r>
                        <a:rPr lang="en-US">
                          <a:effectLst/>
                        </a:rPr>
                        <a:t> (Python)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Database Engine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SQLite</a:t>
                      </a:r>
                      <a:r>
                        <a:rPr lang="en-US">
                          <a:effectLst/>
                        </a:rPr>
                        <a:t> (Relational DBMS)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Frontend Library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React</a:t>
                      </a:r>
                      <a:r>
                        <a:rPr lang="en-US">
                          <a:effectLst/>
                        </a:rPr>
                        <a:t> (Vite-powered)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77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UI Components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Lucide-React</a:t>
                      </a:r>
                      <a:r>
                        <a:rPr lang="en-US">
                          <a:effectLst/>
                        </a:rPr>
                        <a:t> &amp; Custom CSS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API Architecture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 b="1">
                          <a:effectLst/>
                        </a:rPr>
                        <a:t>REST API</a:t>
                      </a:r>
                      <a:r>
                        <a:rPr lang="en-GB">
                          <a:effectLst/>
                        </a:rPr>
                        <a:t> (Django REST Framework)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>
                          <a:effectLst/>
                        </a:rPr>
                        <a:t>Development Tools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b="1" dirty="0" err="1">
                          <a:effectLst/>
                        </a:rPr>
                        <a:t>npm</a:t>
                      </a:r>
                      <a:r>
                        <a:rPr lang="en-US" b="1" dirty="0">
                          <a:effectLst/>
                        </a:rPr>
                        <a:t>/pip</a:t>
                      </a:r>
                      <a:r>
                        <a:rPr lang="en-US" dirty="0">
                          <a:effectLst/>
                        </a:rPr>
                        <a:t> &amp; </a:t>
                      </a:r>
                      <a:r>
                        <a:rPr lang="en-US" b="1" dirty="0">
                          <a:effectLst/>
                        </a:rPr>
                        <a:t>VS Code</a:t>
                      </a:r>
                      <a:endParaRPr lang="en-US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4430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Demo and modes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4E088A-9268-6C8B-DC1A-29EFB355E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20238" y="1876180"/>
            <a:ext cx="8173595" cy="38010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31349-3688-7C6B-7575-C432F4F783EA}"/>
              </a:ext>
            </a:extLst>
          </p:cNvPr>
          <p:cNvSpPr txBox="1"/>
          <p:nvPr/>
        </p:nvSpPr>
        <p:spPr>
          <a:xfrm>
            <a:off x="1824645" y="1379567"/>
            <a:ext cx="60932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Application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2B5650-9286-311F-BA57-0A218F28CBB3}"/>
              </a:ext>
            </a:extLst>
          </p:cNvPr>
          <p:cNvSpPr txBox="1"/>
          <p:nvPr/>
        </p:nvSpPr>
        <p:spPr>
          <a:xfrm>
            <a:off x="4205780" y="5925672"/>
            <a:ext cx="3820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Dashboard view of the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336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BDE53-50B9-E963-8052-4063C6972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9C783B-2247-B15B-535E-CEE24E31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Demo and modes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F7BF8F-B064-EF51-EC2E-176DDA612957}"/>
              </a:ext>
            </a:extLst>
          </p:cNvPr>
          <p:cNvSpPr txBox="1"/>
          <p:nvPr/>
        </p:nvSpPr>
        <p:spPr>
          <a:xfrm>
            <a:off x="3625784" y="5874494"/>
            <a:ext cx="53048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Preview of the Classroom type “Conference”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7C5248-3BEB-19C4-34AA-101E9C913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2965" y="1471171"/>
            <a:ext cx="8749115" cy="41666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228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83820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 dirty="0">
                <a:latin typeface="+mj-lt"/>
                <a:ea typeface="+mj-ea"/>
                <a:cs typeface="Arial" panose="020B0604020202020204" pitchFamily="34" charset="0"/>
              </a:rPr>
              <a:t>Future Enhancements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EA8D210B-33C8-5119-C5EF-EA6FCCC5B2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01417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426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958FFE-1AFC-2F75-B107-0839ED99F467}"/>
              </a:ext>
            </a:extLst>
          </p:cNvPr>
          <p:cNvSpPr txBox="1"/>
          <p:nvPr/>
        </p:nvSpPr>
        <p:spPr>
          <a:xfrm>
            <a:off x="914194" y="1744308"/>
            <a:ext cx="10490868" cy="2121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Digital seat management bridges the gap between complex scheduling and institutional efficiency. Our platform simplifies administrative workflows by replacing manual plotting with a robust, relational interface. Future enhancements like biometric integration and AI-driven layout optimization will further scale this innovation. We remain dedicated to ensuring resource management is accurate, accessible, and effortlessly maintained.</a:t>
            </a:r>
          </a:p>
        </p:txBody>
      </p:sp>
    </p:spTree>
    <p:extLst>
      <p:ext uri="{BB962C8B-B14F-4D97-AF65-F5344CB8AC3E}">
        <p14:creationId xmlns:p14="http://schemas.microsoft.com/office/powerpoint/2010/main" val="2838118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6993" y="1776401"/>
            <a:ext cx="3711482" cy="3633799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0416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ustom 5">
      <a:majorFont>
        <a:latin typeface="Roboto Slab"/>
        <a:ea typeface=""/>
        <a:cs typeface=""/>
      </a:majorFont>
      <a:minorFont>
        <a:latin typeface="Roboto Slab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3736</TotalTime>
  <Words>487</Words>
  <Application>Microsoft Office PowerPoint</Application>
  <PresentationFormat>Widescreen</PresentationFormat>
  <Paragraphs>84</Paragraphs>
  <Slides>14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Times New Roman</vt:lpstr>
      <vt:lpstr>Calibri</vt:lpstr>
      <vt:lpstr>Roboto Slab</vt:lpstr>
      <vt:lpstr>Office Theme</vt:lpstr>
      <vt:lpstr>Topic: Web Based Classroom Seat Allocation System using Django and SQLite3</vt:lpstr>
      <vt:lpstr>Agenda</vt:lpstr>
      <vt:lpstr>Introduction</vt:lpstr>
      <vt:lpstr>Problem Statement</vt:lpstr>
      <vt:lpstr>Objectives</vt:lpstr>
      <vt:lpstr>System Architecture Design</vt:lpstr>
      <vt:lpstr>DB Structure</vt:lpstr>
      <vt:lpstr>DB Structure</vt:lpstr>
      <vt:lpstr>Technology Stack</vt:lpstr>
      <vt:lpstr>Demo and modes</vt:lpstr>
      <vt:lpstr>Demo and modes</vt:lpstr>
      <vt:lpstr>Future Enhancements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Shashwath Kukkunoor</dc:creator>
  <cp:lastModifiedBy>Shashwath Kukkunoor</cp:lastModifiedBy>
  <cp:revision>263</cp:revision>
  <dcterms:created xsi:type="dcterms:W3CDTF">2020-01-23T06:03:51Z</dcterms:created>
  <dcterms:modified xsi:type="dcterms:W3CDTF">2026-03-24T05:42:06Z</dcterms:modified>
</cp:coreProperties>
</file>